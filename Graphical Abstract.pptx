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9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0988-8E9A-8C16-93CB-314A5F14D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43726-8550-55AB-9654-8DFFD11F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BF5A4-7A21-A3E0-7F75-382E555B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3E14-0C66-717A-EA26-8A8A7224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49726-7F32-6155-CF34-D3D9A25E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4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8618-7506-2B4F-9708-45822935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7C132-F710-719E-602F-ED26013E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B4546-4FDA-BE1A-3349-47727115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B5884-383B-452B-03AB-38839558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40CE-098E-B05D-F0EE-9830A717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96D9-7F7D-DB50-3436-77A45E6D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04C7D-C2E8-571D-81A6-0C7FFA9F3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9D73C-B13C-C27C-FD90-390F72FC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60B99-01BD-51B6-29CE-A65721C5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FE0C-9C5D-162B-AB37-B05F71B9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5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49A8-9F6F-1B79-7C3E-8E25B604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AC0D3-581A-EBF8-DDD0-4BA7E3A5F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66FDA-AEB3-EA04-134C-4B099E2A4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3972-2213-302D-B413-AF7177F9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1864C-79A0-4F5F-E667-4A1F85FB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956CB-F9CF-B9DF-29E5-12359633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4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85B9-5C06-F5E9-6901-4BA2D1BE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0BDB0-A693-4A15-7016-E5157BC1C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0EDF7-A051-30F3-80BE-07ADC4E47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10B0E-59DF-3B32-57AC-D985A312A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BB6AA-D702-3F84-8A36-E992DF7D8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DA283-8CCB-1E70-9E35-A1CB8B76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A4085-DFBC-80D3-389E-02049338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09182-E21E-153C-76F1-7FB76657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0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53AC-AFB9-3506-26FF-18D860CD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4104B-66C0-10B3-32A2-9D68B0A3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CCEE4-E115-F8FA-6D7F-8303FC8A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F1D8F-59D9-9CF8-346D-D53BF66F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4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58BE6-975F-C544-D942-8B1C7DD1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C1AE8-60C5-2796-354E-930414E8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93D27-8AAB-9D5A-5C37-4B2F5FE14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9CA3-21E6-BBCC-18E9-60497B2E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5F841-A6A4-7F80-D167-68F2CD62C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FBE90-748B-127B-9A19-69FA7C0B5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AF6AB-2C85-AB23-FCA0-077E930E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B170F-2D3C-76EF-F60E-AF8828D6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5BE05-CD4B-2C65-680C-8DFE63D3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D3EF-75B4-7582-05A8-8204F0BE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9CA79-C55F-5C2D-65BB-CEBDE0EEF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7B16F-9937-0276-6B09-E971799B7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668B0-1A4F-F7E2-3389-3DF0CF80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570FD-DC20-F64C-2106-E07CAC64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AAA2F-130C-01E1-DDAD-2F6BE1B8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F2F9-2BE1-5910-FB5B-25925DCE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2E419-235E-6223-B9BB-10153DB67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4DE5-9DDD-732F-698E-58D1EBE2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83BC5-5838-B63A-3E30-72F4C3BF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87818-9DF5-7196-25FB-529C8E357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2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2E35C-0364-93DD-C9A1-CDA3CA4BA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33F60-B3F8-FA50-E28A-02780C722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4E152-895B-7764-AE37-C9792E45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D4278-E499-152B-DAB5-28F52CFBB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08A4-13A4-B42F-6CE9-C4FE072F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0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2A976-90E7-C42A-8526-B08E16C4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6C0D9-026B-1C11-C45B-0CBA228E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EB2A-18A2-E4AD-E66C-23A8434C7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953E9-D861-4423-82BD-E673411ACA45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BE83-704B-6D79-AF5C-65D27EE16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9F726-C22D-B49F-ACBB-52B79E07E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C00F0-FB69-4978-920F-8BBE0BABD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5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3C6DD96-B71E-75BF-9BDD-8CECF53F4669}"/>
              </a:ext>
            </a:extLst>
          </p:cNvPr>
          <p:cNvGrpSpPr/>
          <p:nvPr/>
        </p:nvGrpSpPr>
        <p:grpSpPr>
          <a:xfrm>
            <a:off x="836189" y="138814"/>
            <a:ext cx="10518481" cy="6580371"/>
            <a:chOff x="1017836" y="277629"/>
            <a:chExt cx="10086669" cy="63102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7E9B13-E6D7-2BCC-1312-B68E0B537C53}"/>
                </a:ext>
              </a:extLst>
            </p:cNvPr>
            <p:cNvSpPr txBox="1"/>
            <p:nvPr/>
          </p:nvSpPr>
          <p:spPr>
            <a:xfrm>
              <a:off x="1042695" y="277629"/>
              <a:ext cx="10056142" cy="7968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Uncertainty Quantification of Bandgaps in Acoustic Metamaterials with </a:t>
              </a:r>
            </a:p>
            <a:p>
              <a:pPr algn="ctr"/>
              <a:r>
                <a:rPr lang="en-US" sz="2400" b="1" dirty="0"/>
                <a:t>Stochastic Geometric Defects and Material Properties</a:t>
              </a:r>
              <a:endParaRPr lang="en-GB" sz="2400" b="1" dirty="0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B0F81C6-9DFF-72A2-CC86-A3F7140DA1F1}"/>
                </a:ext>
              </a:extLst>
            </p:cNvPr>
            <p:cNvGrpSpPr/>
            <p:nvPr/>
          </p:nvGrpSpPr>
          <p:grpSpPr>
            <a:xfrm>
              <a:off x="1042694" y="1169374"/>
              <a:ext cx="2796983" cy="3393328"/>
              <a:chOff x="72897" y="1113203"/>
              <a:chExt cx="2596596" cy="309438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96AFB3-E190-8841-D26A-2F303AC12CB5}"/>
                  </a:ext>
                </a:extLst>
              </p:cNvPr>
              <p:cNvSpPr/>
              <p:nvPr/>
            </p:nvSpPr>
            <p:spPr>
              <a:xfrm>
                <a:off x="72897" y="1113203"/>
                <a:ext cx="2596596" cy="30943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76803801-1BEC-8B76-23FD-7398E63E1F3B}"/>
                  </a:ext>
                </a:extLst>
              </p:cNvPr>
              <p:cNvGrpSpPr/>
              <p:nvPr/>
            </p:nvGrpSpPr>
            <p:grpSpPr>
              <a:xfrm>
                <a:off x="90946" y="1145062"/>
                <a:ext cx="2578546" cy="2947987"/>
                <a:chOff x="90946" y="1145062"/>
                <a:chExt cx="2578546" cy="2947987"/>
              </a:xfrm>
            </p:grpSpPr>
            <p:pic>
              <p:nvPicPr>
                <p:cNvPr id="6" name="Content Placeholder 6">
                  <a:extLst>
                    <a:ext uri="{FF2B5EF4-FFF2-40B4-BE49-F238E27FC236}">
                      <a16:creationId xmlns:a16="http://schemas.microsoft.com/office/drawing/2014/main" id="{25C38A6B-109E-09B5-3C0D-B668AF1E2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clrChange>
                    <a:clrFrom>
                      <a:srgbClr val="EAEAF2"/>
                    </a:clrFrom>
                    <a:clrTo>
                      <a:srgbClr val="EAEAF2">
                        <a:alpha val="0"/>
                      </a:srgbClr>
                    </a:clrTo>
                  </a:clrChange>
                </a:blip>
                <a:srcRect l="27173" t="7929" r="49513" b="47923"/>
                <a:stretch/>
              </p:blipFill>
              <p:spPr>
                <a:xfrm>
                  <a:off x="184336" y="2995769"/>
                  <a:ext cx="1163782" cy="1097280"/>
                </a:xfrm>
                <a:prstGeom prst="rect">
                  <a:avLst/>
                </a:prstGeom>
              </p:spPr>
            </p:pic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1BC034FF-A755-B717-39F7-4C81263E76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5641" y="1791393"/>
                  <a:ext cx="2573851" cy="857950"/>
                  <a:chOff x="3987170" y="2636449"/>
                  <a:chExt cx="5212080" cy="1737360"/>
                </a:xfrm>
              </p:grpSpPr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C8AB33CB-E6E7-DB6D-DEE1-9FBE7C1822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724530" y="2636449"/>
                    <a:ext cx="1737360" cy="1737360"/>
                  </a:xfrm>
                  <a:prstGeom prst="rect">
                    <a:avLst/>
                  </a:prstGeom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AB56095E-ED77-C070-FA71-2B478EE65A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987170" y="2636449"/>
                    <a:ext cx="1737360" cy="1737360"/>
                  </a:xfrm>
                  <a:prstGeom prst="rect">
                    <a:avLst/>
                  </a:prstGeom>
                </p:spPr>
              </p:pic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0253E394-E018-B10E-A547-4D24B93CB7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461890" y="2636449"/>
                    <a:ext cx="1737360" cy="173736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5CEB61-A2A7-6ECC-79C9-126A96D9B024}"/>
                    </a:ext>
                  </a:extLst>
                </p:cNvPr>
                <p:cNvSpPr txBox="1"/>
                <p:nvPr/>
              </p:nvSpPr>
              <p:spPr>
                <a:xfrm>
                  <a:off x="90947" y="1145062"/>
                  <a:ext cx="25637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Input Space (7D)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03F6FBD-6F15-0D90-D33C-9CCA46760B7E}"/>
                    </a:ext>
                  </a:extLst>
                </p:cNvPr>
                <p:cNvSpPr txBox="1"/>
                <p:nvPr/>
              </p:nvSpPr>
              <p:spPr>
                <a:xfrm>
                  <a:off x="93161" y="1514394"/>
                  <a:ext cx="2554271" cy="242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Geometry with stochastic defects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D2589E6-7248-D23A-6D61-9ED4B0C6290F}"/>
                    </a:ext>
                  </a:extLst>
                </p:cNvPr>
                <p:cNvSpPr txBox="1"/>
                <p:nvPr/>
              </p:nvSpPr>
              <p:spPr>
                <a:xfrm>
                  <a:off x="90946" y="2585313"/>
                  <a:ext cx="2563700" cy="242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6 stochastic material properties</a:t>
                  </a:r>
                </a:p>
              </p:txBody>
            </p:sp>
            <p:sp>
              <p:nvSpPr>
                <p:cNvPr id="26" name="Left Brace 25">
                  <a:extLst>
                    <a:ext uri="{FF2B5EF4-FFF2-40B4-BE49-F238E27FC236}">
                      <a16:creationId xmlns:a16="http://schemas.microsoft.com/office/drawing/2014/main" id="{E5DA90D5-EC41-B3E5-E110-EF6536EFEB95}"/>
                    </a:ext>
                  </a:extLst>
                </p:cNvPr>
                <p:cNvSpPr/>
                <p:nvPr/>
              </p:nvSpPr>
              <p:spPr>
                <a:xfrm rot="5400000">
                  <a:off x="1274491" y="1716387"/>
                  <a:ext cx="214175" cy="2395695"/>
                </a:xfrm>
                <a:prstGeom prst="lef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DFB4AF-EC40-8769-1A1D-756F8116BFD4}"/>
                    </a:ext>
                  </a:extLst>
                </p:cNvPr>
                <p:cNvSpPr txBox="1"/>
                <p:nvPr/>
              </p:nvSpPr>
              <p:spPr>
                <a:xfrm>
                  <a:off x="1372202" y="3174326"/>
                  <a:ext cx="1198949" cy="5651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×6 (similar distributions at different scales)</a:t>
                  </a:r>
                </a:p>
              </p:txBody>
            </p:sp>
          </p:grp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A347D9E4-03C3-CE51-5D6E-27AE202712A0}"/>
                </a:ext>
              </a:extLst>
            </p:cNvPr>
            <p:cNvGrpSpPr/>
            <p:nvPr/>
          </p:nvGrpSpPr>
          <p:grpSpPr>
            <a:xfrm>
              <a:off x="1017836" y="4657565"/>
              <a:ext cx="2823758" cy="1922805"/>
              <a:chOff x="276641" y="4563720"/>
              <a:chExt cx="2621454" cy="1753409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EEDA956-0D48-5235-5D9B-9B6EFCBE1B08}"/>
                  </a:ext>
                </a:extLst>
              </p:cNvPr>
              <p:cNvSpPr/>
              <p:nvPr/>
            </p:nvSpPr>
            <p:spPr>
              <a:xfrm>
                <a:off x="301499" y="4563720"/>
                <a:ext cx="2596596" cy="17534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535F8B-F53E-8E4A-0213-F4E407F503BB}"/>
                  </a:ext>
                </a:extLst>
              </p:cNvPr>
              <p:cNvSpPr txBox="1"/>
              <p:nvPr/>
            </p:nvSpPr>
            <p:spPr>
              <a:xfrm>
                <a:off x="306406" y="4565876"/>
                <a:ext cx="2585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Output Space (2D)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D865E8-66C9-69F4-C45B-4623008BEC9C}"/>
                  </a:ext>
                </a:extLst>
              </p:cNvPr>
              <p:cNvSpPr txBox="1"/>
              <p:nvPr/>
            </p:nvSpPr>
            <p:spPr>
              <a:xfrm>
                <a:off x="276641" y="4896930"/>
                <a:ext cx="2596596" cy="242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Metamaterial bandgap size and location</a:t>
                </a:r>
              </a:p>
            </p:txBody>
          </p:sp>
          <p:pic>
            <p:nvPicPr>
              <p:cNvPr id="139" name="Picture 138" descr="A graph of different colored lines&#10;&#10;Description automatically generated">
                <a:extLst>
                  <a:ext uri="{FF2B5EF4-FFF2-40B4-BE49-F238E27FC236}">
                    <a16:creationId xmlns:a16="http://schemas.microsoft.com/office/drawing/2014/main" id="{EEE13266-2740-3229-C039-3D29677CC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1430" y="5139156"/>
                <a:ext cx="1316736" cy="1097280"/>
              </a:xfrm>
              <a:prstGeom prst="rect">
                <a:avLst/>
              </a:prstGeom>
            </p:spPr>
          </p:pic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77D3133D-AD03-D38D-2602-0DFD847571EA}"/>
                </a:ext>
              </a:extLst>
            </p:cNvPr>
            <p:cNvGrpSpPr/>
            <p:nvPr/>
          </p:nvGrpSpPr>
          <p:grpSpPr>
            <a:xfrm>
              <a:off x="3966107" y="1169374"/>
              <a:ext cx="2381044" cy="1151003"/>
              <a:chOff x="3015469" y="1191787"/>
              <a:chExt cx="2210457" cy="1049602"/>
            </a:xfrm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89774480-11C0-CAC6-E7F4-6E58FF060B1A}"/>
                  </a:ext>
                </a:extLst>
              </p:cNvPr>
              <p:cNvSpPr/>
              <p:nvPr/>
            </p:nvSpPr>
            <p:spPr>
              <a:xfrm>
                <a:off x="3015469" y="1191787"/>
                <a:ext cx="2210457" cy="10496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4B40324F-09F5-2E7E-2B7B-70EB051780F8}"/>
                  </a:ext>
                </a:extLst>
              </p:cNvPr>
              <p:cNvSpPr txBox="1"/>
              <p:nvPr/>
            </p:nvSpPr>
            <p:spPr>
              <a:xfrm>
                <a:off x="3031254" y="1192272"/>
                <a:ext cx="2185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Sampling Strategies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BD39363-0355-F34B-E335-2E3662E6BC3E}"/>
                  </a:ext>
                </a:extLst>
              </p:cNvPr>
              <p:cNvSpPr txBox="1"/>
              <p:nvPr/>
            </p:nvSpPr>
            <p:spPr>
              <a:xfrm>
                <a:off x="3308351" y="1518566"/>
                <a:ext cx="1602144" cy="589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Monte Carlo (MC)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Quadrature Rule (QR)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Sparse Grid (SG)</a:t>
                </a:r>
              </a:p>
            </p:txBody>
          </p:sp>
        </p:grpSp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E621834B-EDCD-5D0C-6A38-36EF4E2EBDFE}"/>
                </a:ext>
              </a:extLst>
            </p:cNvPr>
            <p:cNvGrpSpPr/>
            <p:nvPr/>
          </p:nvGrpSpPr>
          <p:grpSpPr>
            <a:xfrm>
              <a:off x="7486296" y="1167624"/>
              <a:ext cx="3618209" cy="1666514"/>
              <a:chOff x="7885111" y="1190922"/>
              <a:chExt cx="3358987" cy="1519697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961C359-D7EA-518B-E3F2-15A3FC53C644}"/>
                  </a:ext>
                </a:extLst>
              </p:cNvPr>
              <p:cNvSpPr txBox="1"/>
              <p:nvPr/>
            </p:nvSpPr>
            <p:spPr>
              <a:xfrm>
                <a:off x="7885111" y="1190922"/>
                <a:ext cx="3358987" cy="322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Reserved Monte Carlo Samples</a:t>
                </a:r>
              </a:p>
            </p:txBody>
          </p:sp>
          <p:pic>
            <p:nvPicPr>
              <p:cNvPr id="49" name="Content Placeholder 6">
                <a:extLst>
                  <a:ext uri="{FF2B5EF4-FFF2-40B4-BE49-F238E27FC236}">
                    <a16:creationId xmlns:a16="http://schemas.microsoft.com/office/drawing/2014/main" id="{5DF2D503-F531-5621-31EB-7F83246B84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clrChange>
                  <a:clrFrom>
                    <a:srgbClr val="EBEBF2"/>
                  </a:clrFrom>
                  <a:clrTo>
                    <a:srgbClr val="EBEBF2">
                      <a:alpha val="0"/>
                    </a:srgbClr>
                  </a:clrTo>
                </a:clrChange>
              </a:blip>
              <a:srcRect l="26680" t="7869" r="49340" b="47981"/>
              <a:stretch/>
            </p:blipFill>
            <p:spPr>
              <a:xfrm>
                <a:off x="8199928" y="1552201"/>
                <a:ext cx="1197033" cy="1097280"/>
              </a:xfrm>
              <a:prstGeom prst="rect">
                <a:avLst/>
              </a:prstGeom>
            </p:spPr>
          </p:pic>
          <p:pic>
            <p:nvPicPr>
              <p:cNvPr id="125" name="Picture 124" descr="A graph of a band gap&#10;&#10;Description automatically generated">
                <a:extLst>
                  <a:ext uri="{FF2B5EF4-FFF2-40B4-BE49-F238E27FC236}">
                    <a16:creationId xmlns:a16="http://schemas.microsoft.com/office/drawing/2014/main" id="{8434BAA3-DA49-C8D7-EBBB-38D773DDC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79929" y="1517701"/>
                <a:ext cx="1316736" cy="1097280"/>
              </a:xfrm>
              <a:prstGeom prst="rect">
                <a:avLst/>
              </a:prstGeom>
            </p:spPr>
          </p:pic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AE9C168-160F-5B43-CA73-99C8F7592D1F}"/>
                  </a:ext>
                </a:extLst>
              </p:cNvPr>
              <p:cNvSpPr/>
              <p:nvPr/>
            </p:nvSpPr>
            <p:spPr>
              <a:xfrm>
                <a:off x="7885111" y="1191788"/>
                <a:ext cx="3358987" cy="15188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4B39BD26-4017-9B9B-454B-42E1FE2E931F}"/>
                </a:ext>
              </a:extLst>
            </p:cNvPr>
            <p:cNvGrpSpPr/>
            <p:nvPr/>
          </p:nvGrpSpPr>
          <p:grpSpPr>
            <a:xfrm>
              <a:off x="7486296" y="2929406"/>
              <a:ext cx="3612541" cy="3658452"/>
              <a:chOff x="7890374" y="3363177"/>
              <a:chExt cx="3353725" cy="3336149"/>
            </a:xfrm>
          </p:grpSpPr>
          <p:pic>
            <p:nvPicPr>
              <p:cNvPr id="50" name="Picture 49" descr="A screenshot of a graph&#10;&#10;Description automatically generated">
                <a:extLst>
                  <a:ext uri="{FF2B5EF4-FFF2-40B4-BE49-F238E27FC236}">
                    <a16:creationId xmlns:a16="http://schemas.microsoft.com/office/drawing/2014/main" id="{D227EFAE-8064-ED57-04E1-33CA1C8AA4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15761" y="3661525"/>
                <a:ext cx="3328337" cy="3037801"/>
              </a:xfrm>
              <a:prstGeom prst="rect">
                <a:avLst/>
              </a:prstGeom>
            </p:spPr>
          </p:pic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58ED0FA7-B444-E535-F767-090F55F041C9}"/>
                  </a:ext>
                </a:extLst>
              </p:cNvPr>
              <p:cNvSpPr/>
              <p:nvPr/>
            </p:nvSpPr>
            <p:spPr>
              <a:xfrm>
                <a:off x="7890374" y="3363177"/>
                <a:ext cx="3353725" cy="33361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D35E6B4-065B-847F-AF1F-AD02AAE8F8F1}"/>
                  </a:ext>
                </a:extLst>
              </p:cNvPr>
              <p:cNvSpPr txBox="1"/>
              <p:nvPr/>
            </p:nvSpPr>
            <p:spPr>
              <a:xfrm>
                <a:off x="7900930" y="3375210"/>
                <a:ext cx="3328337" cy="322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Surrogate Model Results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A8590484-60CF-1EC4-24B9-6C78FA6FBB3C}"/>
                </a:ext>
              </a:extLst>
            </p:cNvPr>
            <p:cNvGrpSpPr/>
            <p:nvPr/>
          </p:nvGrpSpPr>
          <p:grpSpPr>
            <a:xfrm>
              <a:off x="3823686" y="1744876"/>
              <a:ext cx="4246718" cy="4211887"/>
              <a:chOff x="2883251" y="1716588"/>
              <a:chExt cx="3942467" cy="3840827"/>
            </a:xfrm>
          </p:grpSpPr>
          <p:cxnSp>
            <p:nvCxnSpPr>
              <p:cNvPr id="7" name="Connector: Elbow 6">
                <a:extLst>
                  <a:ext uri="{FF2B5EF4-FFF2-40B4-BE49-F238E27FC236}">
                    <a16:creationId xmlns:a16="http://schemas.microsoft.com/office/drawing/2014/main" id="{6890BDC0-E165-B5A3-10EB-D9CCA3B33B7C}"/>
                  </a:ext>
                </a:extLst>
              </p:cNvPr>
              <p:cNvCxnSpPr>
                <a:cxnSpLocks/>
                <a:endCxn id="16" idx="0"/>
              </p:cNvCxnSpPr>
              <p:nvPr/>
            </p:nvCxnSpPr>
            <p:spPr>
              <a:xfrm>
                <a:off x="2883251" y="3724198"/>
                <a:ext cx="623678" cy="561971"/>
              </a:xfrm>
              <a:prstGeom prst="bentConnector2">
                <a:avLst/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2" name="Connector: Elbow 11">
                <a:extLst>
                  <a:ext uri="{FF2B5EF4-FFF2-40B4-BE49-F238E27FC236}">
                    <a16:creationId xmlns:a16="http://schemas.microsoft.com/office/drawing/2014/main" id="{11D5CFC5-E495-43D4-6E56-5080710FAA98}"/>
                  </a:ext>
                </a:extLst>
              </p:cNvPr>
              <p:cNvCxnSpPr>
                <a:cxnSpLocks/>
                <a:stCxn id="16" idx="2"/>
                <a:endCxn id="32" idx="3"/>
              </p:cNvCxnSpPr>
              <p:nvPr/>
            </p:nvCxnSpPr>
            <p:spPr>
              <a:xfrm rot="5400000">
                <a:off x="2923653" y="4666103"/>
                <a:ext cx="559500" cy="607052"/>
              </a:xfrm>
              <a:prstGeom prst="bentConnector2">
                <a:avLst/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C95D8CF-4A98-0BBA-E317-FBDAF5200F77}"/>
                      </a:ext>
                    </a:extLst>
                  </p:cNvPr>
                  <p:cNvSpPr txBox="1"/>
                  <p:nvPr/>
                </p:nvSpPr>
                <p:spPr>
                  <a:xfrm>
                    <a:off x="4130607" y="4187675"/>
                    <a:ext cx="2027792" cy="596407"/>
                  </a:xfrm>
                  <a:prstGeom prst="rect">
                    <a:avLst/>
                  </a:prstGeom>
                  <a:noFill/>
                  <a:ln>
                    <a:solidFill>
                      <a:srgbClr val="E7E6E6">
                        <a:lumMod val="10000"/>
                      </a:srgb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lvl="0"/>
                    <a:r>
                      <a:rPr lang="en-US" sz="1200" dirty="0"/>
                      <a:t>Polynomial chaos expansion surrogate models formed by regressing [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1200" dirty="0"/>
                      <a:t>,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sz="1200" dirty="0"/>
                      <a:t>] onto </a:t>
                    </a:r>
                    <a14:m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C95D8CF-4A98-0BBA-E317-FBDAF5200F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0607" y="4187675"/>
                    <a:ext cx="2027792" cy="59640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754"/>
                    </a:stretch>
                  </a:blipFill>
                  <a:ln>
                    <a:solidFill>
                      <a:srgbClr val="E7E6E6">
                        <a:lumMod val="10000"/>
                      </a:srgb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9AB815A3-BB94-77B7-A3FC-A44E0FCD701C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 flipV="1">
                <a:off x="2899876" y="4783938"/>
                <a:ext cx="1675777" cy="465441"/>
              </a:xfrm>
              <a:prstGeom prst="bentConnector3">
                <a:avLst>
                  <a:gd name="adj1" fmla="val 99890"/>
                </a:avLst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7434CC8A-6A35-84C3-058C-53C143DE21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3021" y="3723212"/>
                <a:ext cx="1682632" cy="465096"/>
              </a:xfrm>
              <a:prstGeom prst="bentConnector3">
                <a:avLst>
                  <a:gd name="adj1" fmla="val 99937"/>
                </a:avLst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dash"/>
                <a:miter lim="800000"/>
                <a:tailEnd type="triangle"/>
              </a:ln>
              <a:effectLst/>
            </p:spPr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C241672-1A1A-061E-2D19-D9621AD04A37}"/>
                  </a:ext>
                </a:extLst>
              </p:cNvPr>
              <p:cNvSpPr txBox="1"/>
              <p:nvPr/>
            </p:nvSpPr>
            <p:spPr>
              <a:xfrm>
                <a:off x="3005724" y="4286169"/>
                <a:ext cx="1002409" cy="403710"/>
              </a:xfrm>
              <a:prstGeom prst="rect">
                <a:avLst/>
              </a:prstGeom>
              <a:noFill/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Finite element analysis solver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3CE61E61-F863-BC0B-2D66-6097A50E0705}"/>
                      </a:ext>
                    </a:extLst>
                  </p:cNvPr>
                  <p:cNvSpPr txBox="1"/>
                  <p:nvPr/>
                </p:nvSpPr>
                <p:spPr>
                  <a:xfrm>
                    <a:off x="3012473" y="3414971"/>
                    <a:ext cx="1354200" cy="2846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Sample inputs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3CE61E61-F863-BC0B-2D66-6097A50E07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12473" y="3414971"/>
                    <a:ext cx="1354200" cy="28469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02" b="-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01EAEB33-BD80-DD13-D6A0-92C1473BFE62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606" y="5272722"/>
                    <a:ext cx="1511447" cy="2846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Sample Outputs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01EAEB33-BD80-DD13-D6A0-92C1473BFE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606" y="5272722"/>
                    <a:ext cx="1511447" cy="28469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60" b="-37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249E96B1-0FED-ED71-0114-25849F63BA3B}"/>
                      </a:ext>
                    </a:extLst>
                  </p:cNvPr>
                  <p:cNvSpPr txBox="1"/>
                  <p:nvPr/>
                </p:nvSpPr>
                <p:spPr>
                  <a:xfrm>
                    <a:off x="3543293" y="2408091"/>
                    <a:ext cx="1682632" cy="646331"/>
                  </a:xfrm>
                  <a:prstGeom prst="rect">
                    <a:avLst/>
                  </a:prstGeom>
                  <a:noFill/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Generate orthogonal polynomial set </a:t>
                    </a:r>
                    <a14:m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a14:m>
                    <a:r>
                      <a:rPr lang="en-US" sz="1200" dirty="0"/>
                      <a:t> from Input distributions</a:t>
                    </a: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249E96B1-0FED-ED71-0114-25849F63BA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43293" y="2408091"/>
                    <a:ext cx="1682632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bg2">
                        <a:lumMod val="1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AB1A77A1-4674-E4BF-8D92-672815CAB20F}"/>
                  </a:ext>
                </a:extLst>
              </p:cNvPr>
              <p:cNvCxnSpPr>
                <a:cxnSpLocks/>
                <a:stCxn id="21" idx="3"/>
                <a:endCxn id="71" idx="1"/>
              </p:cNvCxnSpPr>
              <p:nvPr/>
            </p:nvCxnSpPr>
            <p:spPr>
              <a:xfrm flipV="1">
                <a:off x="2898096" y="2731257"/>
                <a:ext cx="645197" cy="77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: Elbow 103">
                <a:extLst>
                  <a:ext uri="{FF2B5EF4-FFF2-40B4-BE49-F238E27FC236}">
                    <a16:creationId xmlns:a16="http://schemas.microsoft.com/office/drawing/2014/main" id="{397F4C17-43B4-8DFC-16BA-9AEB068F3BE3}"/>
                  </a:ext>
                </a:extLst>
              </p:cNvPr>
              <p:cNvCxnSpPr>
                <a:cxnSpLocks/>
                <a:stCxn id="71" idx="3"/>
              </p:cNvCxnSpPr>
              <p:nvPr/>
            </p:nvCxnSpPr>
            <p:spPr>
              <a:xfrm>
                <a:off x="5225925" y="2731257"/>
                <a:ext cx="253921" cy="1457051"/>
              </a:xfrm>
              <a:prstGeom prst="bentConnector2">
                <a:avLst/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151" name="Connector: Elbow 150">
                <a:extLst>
                  <a:ext uri="{FF2B5EF4-FFF2-40B4-BE49-F238E27FC236}">
                    <a16:creationId xmlns:a16="http://schemas.microsoft.com/office/drawing/2014/main" id="{93DE468B-DC02-8841-9E48-47629ED75F52}"/>
                  </a:ext>
                </a:extLst>
              </p:cNvPr>
              <p:cNvCxnSpPr>
                <a:cxnSpLocks/>
                <a:stCxn id="122" idx="1"/>
              </p:cNvCxnSpPr>
              <p:nvPr/>
            </p:nvCxnSpPr>
            <p:spPr>
              <a:xfrm rot="10800000" flipH="1" flipV="1">
                <a:off x="6283457" y="1950473"/>
                <a:ext cx="542261" cy="1227655"/>
              </a:xfrm>
              <a:prstGeom prst="bentConnector4">
                <a:avLst>
                  <a:gd name="adj1" fmla="val -47599"/>
                  <a:gd name="adj2" fmla="val 100205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Connector: Elbow 161">
                <a:extLst>
                  <a:ext uri="{FF2B5EF4-FFF2-40B4-BE49-F238E27FC236}">
                    <a16:creationId xmlns:a16="http://schemas.microsoft.com/office/drawing/2014/main" id="{3727CB2B-AFFC-2704-8E3E-F3B690367E7C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6158399" y="4485879"/>
                <a:ext cx="524433" cy="169349"/>
              </a:xfrm>
              <a:prstGeom prst="bentConnector3">
                <a:avLst>
                  <a:gd name="adj1" fmla="val 50000"/>
                </a:avLst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dash"/>
                <a:miter lim="800000"/>
                <a:tailEnd type="triangle"/>
              </a:ln>
              <a:effectLst/>
            </p:spPr>
          </p:cxnSp>
          <p:cxnSp>
            <p:nvCxnSpPr>
              <p:cNvPr id="237" name="Connector: Elbow 236">
                <a:extLst>
                  <a:ext uri="{FF2B5EF4-FFF2-40B4-BE49-F238E27FC236}">
                    <a16:creationId xmlns:a16="http://schemas.microsoft.com/office/drawing/2014/main" id="{81E3D9DC-5538-4D53-CF80-3AF3C941AA8A}"/>
                  </a:ext>
                </a:extLst>
              </p:cNvPr>
              <p:cNvCxnSpPr>
                <a:cxnSpLocks/>
                <a:stCxn id="212" idx="3"/>
              </p:cNvCxnSpPr>
              <p:nvPr/>
            </p:nvCxnSpPr>
            <p:spPr>
              <a:xfrm>
                <a:off x="5225925" y="1716588"/>
                <a:ext cx="533099" cy="2470943"/>
              </a:xfrm>
              <a:prstGeom prst="bentConnector2">
                <a:avLst/>
              </a:prstGeom>
              <a:noFill/>
              <a:ln w="12700" cap="flat" cmpd="sng" algn="ctr">
                <a:solidFill>
                  <a:srgbClr val="E7E6E6">
                    <a:lumMod val="10000"/>
                  </a:srgbClr>
                </a:solidFill>
                <a:prstDash val="dash"/>
                <a:miter lim="800000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297354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 Zhang</dc:creator>
  <cp:lastModifiedBy>Han Zhang</cp:lastModifiedBy>
  <cp:revision>12</cp:revision>
  <dcterms:created xsi:type="dcterms:W3CDTF">2024-01-31T05:06:40Z</dcterms:created>
  <dcterms:modified xsi:type="dcterms:W3CDTF">2024-04-02T15:24:38Z</dcterms:modified>
</cp:coreProperties>
</file>